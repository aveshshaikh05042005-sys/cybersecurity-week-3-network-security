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bold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bold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c4aa7f99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c4aa7f99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bc4aa7f99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bc4aa7f99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c4aa7f99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bc4aa7f99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bc4aa7f99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bc4aa7f99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c4aa7f99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bc4aa7f99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c4aa7f99_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bc4aa7f99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bc4aa7f99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bc4aa7f99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bc4aa7f99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bc4aa7f99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bc4aa7f99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bc4aa7f9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bc4aa7f99_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bc4aa7f9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bc4aa7f99_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bc4aa7f9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c4aa7f99_0_0)">
  <p:cSld name="Generated (g3fbc4aa7f99_0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/>
        </p:nvSpPr>
        <p:spPr>
          <a:xfrm>
            <a:off x="381000" y="152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3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Advanced Network Security Assessment &amp; Traffic Investigation (Week 3)</a:t>
            </a:r>
            <a:endParaRPr b="1" sz="32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7" name="Google Shape;57;p14"/>
          <p:cNvCxnSpPr/>
          <p:nvPr/>
        </p:nvCxnSpPr>
        <p:spPr>
          <a:xfrm>
            <a:off x="381000" y="276225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/>
        </p:nvSpPr>
        <p:spPr>
          <a:xfrm>
            <a:off x="381000" y="2952750"/>
            <a:ext cx="8382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Practical Reconnaissance, Deep Packet Forensics &amp; Infrastructure Hardening</a:t>
            </a:r>
            <a:endParaRPr b="0" sz="18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Presenter: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Mohammed Avesh Shaikh (aveshshaikh05042005@gmail.com)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Track: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Cybersecurity Foundation / SOC Analyst | DG Interns Hub | September 2026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rPr b="0" i="1" lang="en-GB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session focuses on practical reconnaissance techniques, deep forensics investigations, and critical infrastructure hardening strategies within a controlled laboratory environment.</a:t>
            </a:r>
            <a:endParaRPr b="0" i="1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Security Assessment Lifecycle &amp; Objectives</a:t>
            </a:r>
            <a:endParaRPr b="1" sz="2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381000" y="952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-GB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Methodology &amp; Compliance Standards</a:t>
            </a:r>
            <a:endParaRPr b="0" sz="18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81000" y="1524000"/>
            <a:ext cx="4191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29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Assessment Phases</a:t>
            </a:r>
            <a:endParaRPr b="0" sz="1295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0833" lvl="0" marL="457200" rtl="0" algn="l">
              <a:spcBef>
                <a:spcPts val="900"/>
              </a:spcBef>
              <a:spcAft>
                <a:spcPts val="0"/>
              </a:spcAft>
              <a:buSzPts val="1295"/>
              <a:buAutoNum type="arabicPeriod"/>
            </a:pPr>
            <a:r>
              <a:rPr b="0" lang="en-GB" sz="1295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Discovery:</a:t>
            </a:r>
            <a:r>
              <a:rPr b="0" lang="en-GB" sz="129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Comprehensive host mapping to identify active devices.</a:t>
            </a:r>
            <a:endParaRPr b="0" sz="129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ts val="1295"/>
              <a:buAutoNum type="arabicPeriod"/>
            </a:pPr>
            <a:r>
              <a:rPr b="0" lang="en-GB" sz="1295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Vulnerability Enumeration:</a:t>
            </a:r>
            <a:r>
              <a:rPr b="0" lang="en-GB" sz="129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Probing services to uncover weaknesses.</a:t>
            </a:r>
            <a:endParaRPr b="0" sz="129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ts val="1295"/>
              <a:buAutoNum type="arabicPeriod"/>
            </a:pPr>
            <a:r>
              <a:rPr b="0" lang="en-GB" sz="1295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Wire Forensics:</a:t>
            </a:r>
            <a:r>
              <a:rPr b="0" lang="en-GB" sz="129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Deep packet inspection for traffic analysis.</a:t>
            </a:r>
            <a:endParaRPr b="0" sz="129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ts val="1295"/>
              <a:buAutoNum type="arabicPeriod"/>
            </a:pPr>
            <a:r>
              <a:rPr b="0" lang="en-GB" sz="1295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Hardening:</a:t>
            </a:r>
            <a:r>
              <a:rPr b="0" lang="en-GB" sz="129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Implementation of defensive controls.</a:t>
            </a:r>
            <a:endParaRPr b="0" sz="129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0833" lvl="0" marL="457200" rtl="0" algn="l">
              <a:spcBef>
                <a:spcPts val="1200"/>
              </a:spcBef>
              <a:spcAft>
                <a:spcPts val="1200"/>
              </a:spcAft>
              <a:buSzPts val="1295"/>
              <a:buAutoNum type="arabicPeriod"/>
            </a:pPr>
            <a:r>
              <a:rPr b="0" lang="en-GB" sz="1295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Verification:</a:t>
            </a:r>
            <a:r>
              <a:rPr b="0" lang="en-GB" sz="129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Validation of surface reduction effectiveness.</a:t>
            </a:r>
            <a:endParaRPr b="0" sz="1295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>
            <a:off x="4762500" y="1524000"/>
            <a:ext cx="4000500" cy="3048000"/>
            <a:chOff x="0" y="0"/>
            <a:chExt cx="4000500" cy="3048000"/>
          </a:xfrm>
        </p:grpSpPr>
        <p:sp>
          <p:nvSpPr>
            <p:cNvPr id="69" name="Google Shape;69;p15"/>
            <p:cNvSpPr/>
            <p:nvPr/>
          </p:nvSpPr>
          <p:spPr>
            <a:xfrm>
              <a:off x="0" y="0"/>
              <a:ext cx="4000500" cy="3048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0" y="0"/>
              <a:ext cx="4000500" cy="3048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142875" y="57150"/>
              <a:ext cx="3714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Compliance &amp; Framework Standards</a:t>
              </a:r>
              <a:endParaRPr b="0" sz="11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142875" y="428625"/>
              <a:ext cx="3714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Network Environment:</a:t>
              </a:r>
              <a:r>
                <a:rPr b="0"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VirtualBox NAT &amp; Host-Only configurations.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Protocol Standards: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• RFC 793 (TCP)</a:t>
              </a:r>
              <a:endParaRPr b="0" sz="1200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• RFC 792 (ICMP)</a:t>
              </a:r>
              <a:endParaRPr b="0" sz="1200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334155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Threat Framework (MITRE ATT&amp;CK):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• T1046: Network Service Discovery</a:t>
              </a:r>
              <a:endParaRPr b="0" sz="1200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• T1040: Network Sniffing</a:t>
              </a:r>
              <a:endParaRPr b="0" sz="1200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73" name="Google Shape;73;p15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5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Security Assessment Lifecycle &amp; Objectives | 2024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Lab Architecture &amp; Technical Stack</a:t>
            </a:r>
            <a:endParaRPr b="1" sz="2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1" name="Google Shape;81;p16"/>
          <p:cNvGrpSpPr/>
          <p:nvPr/>
        </p:nvGrpSpPr>
        <p:grpSpPr>
          <a:xfrm>
            <a:off x="381000" y="1238250"/>
            <a:ext cx="4000500" cy="3333900"/>
            <a:chOff x="0" y="0"/>
            <a:chExt cx="4000500" cy="3333900"/>
          </a:xfrm>
        </p:grpSpPr>
        <p:sp>
          <p:nvSpPr>
            <p:cNvPr id="82" name="Google Shape;82;p16"/>
            <p:cNvSpPr/>
            <p:nvPr/>
          </p:nvSpPr>
          <p:spPr>
            <a:xfrm>
              <a:off x="0" y="0"/>
              <a:ext cx="4000500" cy="333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6"/>
            <p:cNvSpPr/>
            <p:nvPr/>
          </p:nvSpPr>
          <p:spPr>
            <a:xfrm>
              <a:off x="0" y="0"/>
              <a:ext cx="4000500" cy="3810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190500" y="76200"/>
              <a:ext cx="361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Lab Architecture Details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85" name="Google Shape;85;p16"/>
            <p:cNvSpPr txBox="1"/>
            <p:nvPr/>
          </p:nvSpPr>
          <p:spPr>
            <a:xfrm>
              <a:off x="190500" y="571500"/>
              <a:ext cx="3619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Auditor Node:</a:t>
              </a: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Kali Linux 2026.x </a:t>
              </a:r>
              <a:b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1200">
                  <a:solidFill>
                    <a:srgbClr val="4755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(IP: 10.0.2.15)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Gateway:</a:t>
              </a: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-GB" sz="1200">
                  <a:solidFill>
                    <a:srgbClr val="4755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10.0.2.2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DNS Server:</a:t>
              </a: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-GB" sz="1200">
                  <a:solidFill>
                    <a:srgbClr val="4755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10.0.2.3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120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Target System:</a:t>
              </a: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scanme.nmap.org </a:t>
              </a:r>
              <a:b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1200">
                  <a:solidFill>
                    <a:srgbClr val="4755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(IP: 45.33.32.156)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" name="Google Shape;86;p16"/>
          <p:cNvGrpSpPr/>
          <p:nvPr/>
        </p:nvGrpSpPr>
        <p:grpSpPr>
          <a:xfrm>
            <a:off x="4762500" y="1238250"/>
            <a:ext cx="4000500" cy="3333900"/>
            <a:chOff x="0" y="0"/>
            <a:chExt cx="4000500" cy="3333900"/>
          </a:xfrm>
        </p:grpSpPr>
        <p:sp>
          <p:nvSpPr>
            <p:cNvPr id="87" name="Google Shape;87;p16"/>
            <p:cNvSpPr/>
            <p:nvPr/>
          </p:nvSpPr>
          <p:spPr>
            <a:xfrm>
              <a:off x="0" y="0"/>
              <a:ext cx="4000500" cy="3333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6"/>
            <p:cNvSpPr/>
            <p:nvPr/>
          </p:nvSpPr>
          <p:spPr>
            <a:xfrm>
              <a:off x="0" y="0"/>
              <a:ext cx="4000500" cy="3810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190500" y="76200"/>
              <a:ext cx="361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Technical Tool Stack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190500" y="571500"/>
              <a:ext cx="3619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Network Mapper:</a:t>
              </a: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Nmap 7.94 </a:t>
              </a:r>
              <a:b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Host discovery and deep enumeration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Packet Analyzer:</a:t>
              </a: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Wireshark 4.6.6 </a:t>
              </a:r>
              <a:b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Deep packet forensics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Defensive Controls:</a:t>
              </a: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UFW </a:t>
              </a:r>
              <a:b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Host firewall implementation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Service Management:</a:t>
              </a: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systemd </a:t>
              </a:r>
              <a:b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GB" sz="12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Service management and configuration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91" name="Google Shape;91;p16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6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Lab Architecture &amp; Technical Stack Overview | Technical Documentation 2026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Tasks 7 &amp; 8: Network Discovery &amp; Advanced Nmap Assessment</a:t>
            </a:r>
            <a:endParaRPr b="1" sz="240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9" name="Google Shape;99;p17"/>
          <p:cNvGrpSpPr/>
          <p:nvPr/>
        </p:nvGrpSpPr>
        <p:grpSpPr>
          <a:xfrm>
            <a:off x="381000" y="1238250"/>
            <a:ext cx="8382000" cy="1047825"/>
            <a:chOff x="0" y="0"/>
            <a:chExt cx="8382000" cy="1047825"/>
          </a:xfrm>
        </p:grpSpPr>
        <p:sp>
          <p:nvSpPr>
            <p:cNvPr id="100" name="Google Shape;100;p17"/>
            <p:cNvSpPr txBox="1"/>
            <p:nvPr/>
          </p:nvSpPr>
          <p:spPr>
            <a:xfrm>
              <a:off x="0" y="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-GB" sz="18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Section 1: Subnet Ping Sweep</a:t>
              </a:r>
              <a:endParaRPr b="0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01" name="Google Shape;101;p17"/>
            <p:cNvGrpSpPr/>
            <p:nvPr/>
          </p:nvGrpSpPr>
          <p:grpSpPr>
            <a:xfrm>
              <a:off x="0" y="333375"/>
              <a:ext cx="8382000" cy="428700"/>
              <a:chOff x="0" y="0"/>
              <a:chExt cx="8382000" cy="428700"/>
            </a:xfrm>
          </p:grpSpPr>
          <p:sp>
            <p:nvSpPr>
              <p:cNvPr id="102" name="Google Shape;102;p17"/>
              <p:cNvSpPr/>
              <p:nvPr/>
            </p:nvSpPr>
            <p:spPr>
              <a:xfrm>
                <a:off x="0" y="0"/>
                <a:ext cx="8382000" cy="4287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7"/>
              <p:cNvSpPr txBox="1"/>
              <p:nvPr/>
            </p:nvSpPr>
            <p:spPr>
              <a:xfrm>
                <a:off x="190500" y="114300"/>
                <a:ext cx="8001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200">
                    <a:solidFill>
                      <a:srgbClr val="0F172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nmap -sn 10.0.2.0/24</a:t>
                </a:r>
                <a:endParaRPr b="0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104" name="Google Shape;104;p17"/>
            <p:cNvSpPr txBox="1"/>
            <p:nvPr/>
          </p:nvSpPr>
          <p:spPr>
            <a:xfrm>
              <a:off x="0" y="809625"/>
              <a:ext cx="838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Execution for host identification without active port scanning.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7"/>
          <p:cNvGrpSpPr/>
          <p:nvPr/>
        </p:nvGrpSpPr>
        <p:grpSpPr>
          <a:xfrm>
            <a:off x="381000" y="2333625"/>
            <a:ext cx="8382000" cy="1047825"/>
            <a:chOff x="0" y="0"/>
            <a:chExt cx="8382000" cy="1047825"/>
          </a:xfrm>
        </p:grpSpPr>
        <p:sp>
          <p:nvSpPr>
            <p:cNvPr id="106" name="Google Shape;106;p17"/>
            <p:cNvSpPr txBox="1"/>
            <p:nvPr/>
          </p:nvSpPr>
          <p:spPr>
            <a:xfrm>
              <a:off x="0" y="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-GB" sz="18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Section 2: Deep Enumeration</a:t>
              </a:r>
              <a:endParaRPr b="0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07" name="Google Shape;107;p17"/>
            <p:cNvGrpSpPr/>
            <p:nvPr/>
          </p:nvGrpSpPr>
          <p:grpSpPr>
            <a:xfrm>
              <a:off x="0" y="333375"/>
              <a:ext cx="8382000" cy="428700"/>
              <a:chOff x="0" y="0"/>
              <a:chExt cx="8382000" cy="428700"/>
            </a:xfrm>
          </p:grpSpPr>
          <p:sp>
            <p:nvSpPr>
              <p:cNvPr id="108" name="Google Shape;108;p17"/>
              <p:cNvSpPr/>
              <p:nvPr/>
            </p:nvSpPr>
            <p:spPr>
              <a:xfrm>
                <a:off x="0" y="0"/>
                <a:ext cx="8382000" cy="4287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7"/>
              <p:cNvSpPr txBox="1"/>
              <p:nvPr/>
            </p:nvSpPr>
            <p:spPr>
              <a:xfrm>
                <a:off x="190500" y="114300"/>
                <a:ext cx="8001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1200">
                    <a:solidFill>
                      <a:srgbClr val="0F172A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nmap -sS -sV -O -p-</a:t>
                </a:r>
                <a:endParaRPr b="0" sz="1200">
                  <a:solidFill>
                    <a:srgbClr val="0F172A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sp>
          <p:nvSpPr>
            <p:cNvPr id="110" name="Google Shape;110;p17"/>
            <p:cNvSpPr txBox="1"/>
            <p:nvPr/>
          </p:nvSpPr>
          <p:spPr>
            <a:xfrm>
              <a:off x="0" y="809625"/>
              <a:ext cx="838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Detailed vulnerability enumeration using service version detection and OS fingerprinting.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11" name="Google Shape;1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471863"/>
            <a:ext cx="8343900" cy="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7"/>
          <p:cNvGrpSpPr/>
          <p:nvPr/>
        </p:nvGrpSpPr>
        <p:grpSpPr>
          <a:xfrm>
            <a:off x="381000" y="3619500"/>
            <a:ext cx="8382000" cy="1143075"/>
            <a:chOff x="0" y="0"/>
            <a:chExt cx="8382000" cy="1143075"/>
          </a:xfrm>
        </p:grpSpPr>
        <p:grpSp>
          <p:nvGrpSpPr>
            <p:cNvPr id="113" name="Google Shape;113;p17"/>
            <p:cNvGrpSpPr/>
            <p:nvPr/>
          </p:nvGrpSpPr>
          <p:grpSpPr>
            <a:xfrm>
              <a:off x="0" y="0"/>
              <a:ext cx="4000500" cy="1143075"/>
              <a:chOff x="0" y="0"/>
              <a:chExt cx="4000500" cy="1143075"/>
            </a:xfrm>
          </p:grpSpPr>
          <p:sp>
            <p:nvSpPr>
              <p:cNvPr id="114" name="Google Shape;114;p17"/>
              <p:cNvSpPr txBox="1"/>
              <p:nvPr/>
            </p:nvSpPr>
            <p:spPr>
              <a:xfrm>
                <a:off x="0" y="0"/>
                <a:ext cx="4000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-GB" sz="18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Section 3: Port States</a:t>
                </a:r>
                <a:endParaRPr b="0" sz="18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15" name="Google Shape;115;p17"/>
              <p:cNvSpPr txBox="1"/>
              <p:nvPr/>
            </p:nvSpPr>
            <p:spPr>
              <a:xfrm>
                <a:off x="0" y="333375"/>
                <a:ext cx="4000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31750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34155"/>
                  </a:buClr>
                  <a:buSzPts val="1400"/>
                  <a:buFont typeface="Inter"/>
                  <a:buChar char="●"/>
                </a:pPr>
                <a:r>
                  <a:rPr b="0" lang="en-GB" sz="14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Open:</a:t>
                </a:r>
                <a:r>
                  <a:rPr b="0" lang="en-GB" sz="14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Active listening service</a:t>
                </a:r>
                <a:endParaRPr b="0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334155"/>
                  </a:buClr>
                  <a:buSzPts val="1400"/>
                  <a:buFont typeface="Inter"/>
                  <a:buChar char="●"/>
                </a:pPr>
                <a:r>
                  <a:rPr b="0" lang="en-GB" sz="14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Closed:</a:t>
                </a:r>
                <a:r>
                  <a:rPr b="0" lang="en-GB" sz="14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Accessible, no listener</a:t>
                </a:r>
                <a:endParaRPr b="0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600"/>
                  </a:spcBef>
                  <a:spcAft>
                    <a:spcPts val="600"/>
                  </a:spcAft>
                  <a:buClr>
                    <a:srgbClr val="334155"/>
                  </a:buClr>
                  <a:buSzPts val="1400"/>
                  <a:buFont typeface="Inter"/>
                  <a:buChar char="●"/>
                </a:pPr>
                <a:r>
                  <a:rPr b="0" lang="en-GB" sz="14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Filtered:</a:t>
                </a:r>
                <a:r>
                  <a:rPr b="0" lang="en-GB" sz="14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 Blocked by firewall</a:t>
                </a:r>
                <a:endParaRPr b="0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6" name="Google Shape;116;p17"/>
            <p:cNvGrpSpPr/>
            <p:nvPr/>
          </p:nvGrpSpPr>
          <p:grpSpPr>
            <a:xfrm>
              <a:off x="4381500" y="0"/>
              <a:ext cx="4000500" cy="1143075"/>
              <a:chOff x="0" y="0"/>
              <a:chExt cx="4000500" cy="1143075"/>
            </a:xfrm>
          </p:grpSpPr>
          <p:sp>
            <p:nvSpPr>
              <p:cNvPr id="117" name="Google Shape;117;p17"/>
              <p:cNvSpPr txBox="1"/>
              <p:nvPr/>
            </p:nvSpPr>
            <p:spPr>
              <a:xfrm>
                <a:off x="0" y="0"/>
                <a:ext cx="4000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-GB" sz="18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Section 4: Findings</a:t>
                </a:r>
                <a:endParaRPr b="0" sz="18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18" name="Google Shape;118;p17"/>
              <p:cNvSpPr txBox="1"/>
              <p:nvPr/>
            </p:nvSpPr>
            <p:spPr>
              <a:xfrm>
                <a:off x="0" y="333375"/>
                <a:ext cx="40005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7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Active services successfully identified:</a:t>
                </a:r>
                <a:endParaRPr b="0" sz="77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083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334155"/>
                  </a:buClr>
                  <a:buSzPts val="980"/>
                  <a:buFont typeface="Inter"/>
                  <a:buChar char="●"/>
                </a:pPr>
                <a:r>
                  <a:rPr b="0" lang="en-GB" sz="98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Service active on </a:t>
                </a:r>
                <a:r>
                  <a:rPr b="0" lang="en-GB" sz="98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Port 22</a:t>
                </a:r>
                <a:endParaRPr b="0" sz="98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083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334155"/>
                  </a:buClr>
                  <a:buSzPts val="980"/>
                  <a:buFont typeface="Inter"/>
                  <a:buChar char="●"/>
                </a:pPr>
                <a:r>
                  <a:rPr b="0" lang="en-GB" sz="98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Service active on </a:t>
                </a:r>
                <a:r>
                  <a:rPr b="0" lang="en-GB" sz="98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Port 80</a:t>
                </a:r>
                <a:endParaRPr b="0" sz="98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290830" lvl="0" marL="457200" rtl="0" algn="l">
                  <a:spcBef>
                    <a:spcPts val="600"/>
                  </a:spcBef>
                  <a:spcAft>
                    <a:spcPts val="600"/>
                  </a:spcAft>
                  <a:buClr>
                    <a:srgbClr val="334155"/>
                  </a:buClr>
                  <a:buSzPts val="980"/>
                  <a:buFont typeface="Inter"/>
                  <a:buChar char="●"/>
                </a:pPr>
                <a:r>
                  <a:rPr b="0" lang="en-GB" sz="98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Service active on </a:t>
                </a:r>
                <a:r>
                  <a:rPr b="0" lang="en-GB" sz="98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Port 9999</a:t>
                </a:r>
                <a:endParaRPr b="0" sz="98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cxnSp>
        <p:nvCxnSpPr>
          <p:cNvPr id="119" name="Google Shape;119;p17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7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Network Discovery &amp; Assessment Report | Advanced Nmap Assessment Methodology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Task 9: Wireshark Traffic Capture – ICMP &amp; DNS Protocol Analysis</a:t>
            </a:r>
            <a:endParaRPr b="1" sz="240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7" name="Google Shape;127;p18"/>
          <p:cNvGrpSpPr/>
          <p:nvPr/>
        </p:nvGrpSpPr>
        <p:grpSpPr>
          <a:xfrm>
            <a:off x="381000" y="1238250"/>
            <a:ext cx="4000500" cy="3762375"/>
            <a:chOff x="0" y="0"/>
            <a:chExt cx="4000500" cy="3762375"/>
          </a:xfrm>
        </p:grpSpPr>
        <p:sp>
          <p:nvSpPr>
            <p:cNvPr id="128" name="Google Shape;128;p18"/>
            <p:cNvSpPr txBox="1"/>
            <p:nvPr/>
          </p:nvSpPr>
          <p:spPr>
            <a:xfrm>
              <a:off x="0" y="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-GB" sz="18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ICMP Analysis</a:t>
              </a:r>
              <a:endParaRPr b="0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29" name="Google Shape;129;p18"/>
            <p:cNvGrpSpPr/>
            <p:nvPr/>
          </p:nvGrpSpPr>
          <p:grpSpPr>
            <a:xfrm>
              <a:off x="0" y="428625"/>
              <a:ext cx="4000500" cy="2247900"/>
              <a:chOff x="0" y="0"/>
              <a:chExt cx="4000500" cy="2247900"/>
            </a:xfrm>
          </p:grpSpPr>
          <p:sp>
            <p:nvSpPr>
              <p:cNvPr id="130" name="Google Shape;130;p18"/>
              <p:cNvSpPr/>
              <p:nvPr/>
            </p:nvSpPr>
            <p:spPr>
              <a:xfrm>
                <a:off x="0" y="0"/>
                <a:ext cx="4000500" cy="22479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31" name="Google Shape;131;p18"/>
              <p:cNvPicPr preferRelativeResize="0"/>
              <p:nvPr/>
            </p:nvPicPr>
            <p:blipFill rotWithShape="1">
              <a:blip r:embed="rId3">
                <a:alphaModFix/>
              </a:blip>
              <a:srcRect b="60" l="0" r="0" t="50"/>
              <a:stretch/>
            </p:blipFill>
            <p:spPr>
              <a:xfrm>
                <a:off x="0" y="0"/>
                <a:ext cx="4000500" cy="2247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2" name="Google Shape;132;p18"/>
            <p:cNvSpPr txBox="1"/>
            <p:nvPr/>
          </p:nvSpPr>
          <p:spPr>
            <a:xfrm>
              <a:off x="0" y="2809875"/>
              <a:ext cx="4000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Discussion of ICMP Echo Request and Reply sequence. Packets 85-92 show communication between 10.0.2.15 and 8.8.8.8.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3" name="Google Shape;133;p18"/>
          <p:cNvGrpSpPr/>
          <p:nvPr/>
        </p:nvGrpSpPr>
        <p:grpSpPr>
          <a:xfrm>
            <a:off x="4762500" y="1238250"/>
            <a:ext cx="4000500" cy="3762375"/>
            <a:chOff x="0" y="0"/>
            <a:chExt cx="4000500" cy="3762375"/>
          </a:xfrm>
        </p:grpSpPr>
        <p:sp>
          <p:nvSpPr>
            <p:cNvPr id="134" name="Google Shape;134;p18"/>
            <p:cNvSpPr txBox="1"/>
            <p:nvPr/>
          </p:nvSpPr>
          <p:spPr>
            <a:xfrm>
              <a:off x="0" y="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-GB" sz="18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DNS Analysis</a:t>
              </a:r>
              <a:endParaRPr b="0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35" name="Google Shape;135;p18"/>
            <p:cNvGrpSpPr/>
            <p:nvPr/>
          </p:nvGrpSpPr>
          <p:grpSpPr>
            <a:xfrm>
              <a:off x="0" y="428625"/>
              <a:ext cx="4000500" cy="2247900"/>
              <a:chOff x="0" y="0"/>
              <a:chExt cx="4000500" cy="2247900"/>
            </a:xfrm>
          </p:grpSpPr>
          <p:sp>
            <p:nvSpPr>
              <p:cNvPr id="136" name="Google Shape;136;p18"/>
              <p:cNvSpPr/>
              <p:nvPr/>
            </p:nvSpPr>
            <p:spPr>
              <a:xfrm>
                <a:off x="0" y="0"/>
                <a:ext cx="4000500" cy="22479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37" name="Google Shape;137;p18"/>
              <p:cNvPicPr preferRelativeResize="0"/>
              <p:nvPr/>
            </p:nvPicPr>
            <p:blipFill rotWithShape="1">
              <a:blip r:embed="rId4">
                <a:alphaModFix/>
              </a:blip>
              <a:srcRect b="60" l="0" r="0" t="50"/>
              <a:stretch/>
            </p:blipFill>
            <p:spPr>
              <a:xfrm>
                <a:off x="0" y="0"/>
                <a:ext cx="4000500" cy="2247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8" name="Google Shape;138;p18"/>
            <p:cNvSpPr txBox="1"/>
            <p:nvPr/>
          </p:nvSpPr>
          <p:spPr>
            <a:xfrm>
              <a:off x="0" y="2809875"/>
              <a:ext cx="4000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Specific DNS queries and responses for google.com and neverssl.com.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39" name="Google Shape;139;p18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8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Task 9: Wireshark Traffic Capture | Protocol Analysis Report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Task 9: Wireshark Traffic Capture – ARP &amp; HTTP Protocol Analysis</a:t>
            </a:r>
            <a:endParaRPr b="1" sz="240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7" name="Google Shape;147;p19"/>
          <p:cNvGrpSpPr/>
          <p:nvPr/>
        </p:nvGrpSpPr>
        <p:grpSpPr>
          <a:xfrm>
            <a:off x="381000" y="1238250"/>
            <a:ext cx="4000500" cy="4191150"/>
            <a:chOff x="0" y="0"/>
            <a:chExt cx="4000500" cy="4191150"/>
          </a:xfrm>
        </p:grpSpPr>
        <p:sp>
          <p:nvSpPr>
            <p:cNvPr id="148" name="Google Shape;148;p19"/>
            <p:cNvSpPr txBox="1"/>
            <p:nvPr/>
          </p:nvSpPr>
          <p:spPr>
            <a:xfrm>
              <a:off x="0" y="0"/>
              <a:ext cx="400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-GB" sz="18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ARP Analysis</a:t>
              </a:r>
              <a:endParaRPr b="0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49" name="Google Shape;149;p19"/>
            <p:cNvGrpSpPr/>
            <p:nvPr/>
          </p:nvGrpSpPr>
          <p:grpSpPr>
            <a:xfrm>
              <a:off x="0" y="428625"/>
              <a:ext cx="4000500" cy="2162100"/>
              <a:chOff x="0" y="0"/>
              <a:chExt cx="4000500" cy="2162100"/>
            </a:xfrm>
          </p:grpSpPr>
          <p:sp>
            <p:nvSpPr>
              <p:cNvPr id="150" name="Google Shape;150;p19"/>
              <p:cNvSpPr/>
              <p:nvPr/>
            </p:nvSpPr>
            <p:spPr>
              <a:xfrm>
                <a:off x="0" y="0"/>
                <a:ext cx="4000500" cy="21621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51" name="Google Shape;151;p1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0"/>
                <a:ext cx="4000500" cy="216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2" name="Google Shape;152;p19"/>
            <p:cNvSpPr txBox="1"/>
            <p:nvPr/>
          </p:nvSpPr>
          <p:spPr>
            <a:xfrm>
              <a:off x="0" y="2762250"/>
              <a:ext cx="4000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ARP Announcements for IP-to-MAC resolution.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1200"/>
                </a:spcAft>
                <a:buSzPts val="1400"/>
                <a:buChar char="●"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Network probes identifying active hosts on the segment.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3" name="Google Shape;153;p19"/>
          <p:cNvGrpSpPr/>
          <p:nvPr/>
        </p:nvGrpSpPr>
        <p:grpSpPr>
          <a:xfrm>
            <a:off x="4762500" y="1238250"/>
            <a:ext cx="4000500" cy="4191150"/>
            <a:chOff x="0" y="0"/>
            <a:chExt cx="4000500" cy="4191150"/>
          </a:xfrm>
        </p:grpSpPr>
        <p:sp>
          <p:nvSpPr>
            <p:cNvPr id="154" name="Google Shape;154;p19"/>
            <p:cNvSpPr txBox="1"/>
            <p:nvPr/>
          </p:nvSpPr>
          <p:spPr>
            <a:xfrm>
              <a:off x="0" y="0"/>
              <a:ext cx="400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0" lang="en-GB" sz="18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HTTP Analysis</a:t>
              </a:r>
              <a:endParaRPr b="0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155" name="Google Shape;155;p19"/>
            <p:cNvGrpSpPr/>
            <p:nvPr/>
          </p:nvGrpSpPr>
          <p:grpSpPr>
            <a:xfrm>
              <a:off x="0" y="428625"/>
              <a:ext cx="4000500" cy="2162100"/>
              <a:chOff x="0" y="0"/>
              <a:chExt cx="4000500" cy="2162100"/>
            </a:xfrm>
          </p:grpSpPr>
          <p:sp>
            <p:nvSpPr>
              <p:cNvPr id="156" name="Google Shape;156;p19"/>
              <p:cNvSpPr/>
              <p:nvPr/>
            </p:nvSpPr>
            <p:spPr>
              <a:xfrm>
                <a:off x="0" y="0"/>
                <a:ext cx="4000500" cy="2162100"/>
              </a:xfrm>
              <a:prstGeom prst="rect">
                <a:avLst/>
              </a:prstGeom>
              <a:solidFill>
                <a:srgbClr val="F8FAFC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57" name="Google Shape;157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0"/>
                <a:ext cx="4000500" cy="216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8" name="Google Shape;158;p19"/>
            <p:cNvSpPr txBox="1"/>
            <p:nvPr/>
          </p:nvSpPr>
          <p:spPr>
            <a:xfrm>
              <a:off x="0" y="2762250"/>
              <a:ext cx="4000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Identification of unencrypted HTTP traffic.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1200"/>
                </a:spcAft>
                <a:buSzPts val="1400"/>
                <a:buChar char="●"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HEAD request and 200 OK response from neverssl.com on Port 80.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59" name="Google Shape;159;p19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9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Network Traffic Forensics | Protocol Analysis &amp; Capture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Task 10: Packet-Level Nmap Scan Forensics (Wire Investigation)</a:t>
            </a:r>
            <a:endParaRPr b="1" sz="240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81000" y="11430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en-GB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Correlates Nmap terminal output with Wireshark packet capture.</a:t>
            </a:r>
            <a:endParaRPr b="0" sz="18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81000" y="1714500"/>
            <a:ext cx="40005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Stealth Scan Lifecycle:</a:t>
            </a:r>
            <a:endParaRPr b="0" sz="14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SYN: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Auditor sends synchronization request.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AutoNum type="arabicPeriod"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SYN/ACK: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Target acknowledges open port.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AutoNum type="arabicPeriod"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RST: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Auditor immediately resets connection to evade application logging.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Forensic Sequence: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Highlights packets 145-156 as proof of the stealth handshake.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9" name="Google Shape;169;p20"/>
          <p:cNvGrpSpPr/>
          <p:nvPr/>
        </p:nvGrpSpPr>
        <p:grpSpPr>
          <a:xfrm>
            <a:off x="4762500" y="1714500"/>
            <a:ext cx="4000500" cy="2857575"/>
            <a:chOff x="0" y="0"/>
            <a:chExt cx="4000500" cy="2857575"/>
          </a:xfrm>
        </p:grpSpPr>
        <p:sp>
          <p:nvSpPr>
            <p:cNvPr id="170" name="Google Shape;170;p20"/>
            <p:cNvSpPr/>
            <p:nvPr/>
          </p:nvSpPr>
          <p:spPr>
            <a:xfrm>
              <a:off x="0" y="0"/>
              <a:ext cx="4000500" cy="28575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" name="Google Shape;171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0" y="523875"/>
              <a:ext cx="3810000" cy="18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0"/>
            <p:cNvSpPr txBox="1"/>
            <p:nvPr/>
          </p:nvSpPr>
          <p:spPr>
            <a:xfrm>
              <a:off x="0" y="2619375"/>
              <a:ext cx="4000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9525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GB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Reference: forensic_capture_01.pcap</a:t>
              </a:r>
              <a:endParaRPr b="0" i="1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73" name="Google Shape;173;p20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Network Forensics Investigation | Task 10 Sequence Analysis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Task 11: Advanced Traffic Investigation &amp; Anomaly Hunting</a:t>
            </a:r>
            <a:endParaRPr b="1" sz="240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381000" y="1238250"/>
            <a:ext cx="83820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Top Host: </a:t>
            </a:r>
            <a:r>
              <a:rPr b="0" lang="en-GB" sz="1600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rPr>
              <a:t>10.0.2.15</a:t>
            </a:r>
            <a:r>
              <a:rPr b="0" lang="en-GB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(Auditor workstation)</a:t>
            </a:r>
            <a:endParaRPr b="0" sz="18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1800"/>
              </a:spcBef>
              <a:spcAft>
                <a:spcPts val="0"/>
              </a:spcAft>
              <a:buSzPts val="1400"/>
              <a:buAutoNum type="arabicPeriod"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 Sweeps: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Systematically identifying active services across the target subnet.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Unencrypted Credentials: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Plaintext transmission of authentication data detected in packet streams.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ARP Chatter: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Excessive broadcasts suggesting automated network mapping and reconnaissance.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HTTP Basic Auth: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Identification of decodable base64 credentials over plaintext channels.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1200"/>
              </a:spcAft>
              <a:buSzPts val="1400"/>
              <a:buAutoNum type="arabicPeriod"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TCP Connection Resets: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 volume of RST packets indicating stealth scanning or denied connections.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2" name="Google Shape;182;p21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21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Advanced Traffic Investigation | October 2023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Task 12: Vulnerability Assessment &amp; Risk Prioritization</a:t>
            </a:r>
            <a:endParaRPr b="1" sz="240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0" name="Google Shape;190;p22"/>
          <p:cNvGrpSpPr/>
          <p:nvPr/>
        </p:nvGrpSpPr>
        <p:grpSpPr>
          <a:xfrm>
            <a:off x="381000" y="1143000"/>
            <a:ext cx="4000500" cy="1619100"/>
            <a:chOff x="0" y="0"/>
            <a:chExt cx="4000500" cy="1619100"/>
          </a:xfrm>
        </p:grpSpPr>
        <p:grpSp>
          <p:nvGrpSpPr>
            <p:cNvPr id="191" name="Google Shape;191;p22"/>
            <p:cNvGrpSpPr/>
            <p:nvPr/>
          </p:nvGrpSpPr>
          <p:grpSpPr>
            <a:xfrm>
              <a:off x="0" y="0"/>
              <a:ext cx="4000500" cy="1619100"/>
              <a:chOff x="0" y="0"/>
              <a:chExt cx="4000500" cy="1619100"/>
            </a:xfrm>
          </p:grpSpPr>
          <p:sp>
            <p:nvSpPr>
              <p:cNvPr id="192" name="Google Shape;192;p22"/>
              <p:cNvSpPr/>
              <p:nvPr/>
            </p:nvSpPr>
            <p:spPr>
              <a:xfrm>
                <a:off x="0" y="0"/>
                <a:ext cx="4000500" cy="16191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22"/>
              <p:cNvSpPr/>
              <p:nvPr/>
            </p:nvSpPr>
            <p:spPr>
              <a:xfrm>
                <a:off x="0" y="0"/>
                <a:ext cx="4000500" cy="381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4" name="Google Shape;194;p22"/>
            <p:cNvSpPr txBox="1"/>
            <p:nvPr/>
          </p:nvSpPr>
          <p:spPr>
            <a:xfrm>
              <a:off x="190500" y="22860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Insecure Telnet/FTP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Severity: Critical/High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200"/>
                </a:spcAft>
                <a:buNone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Implication: Plaintext interception of sensitive credentials and data during transit.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5" name="Google Shape;195;p22"/>
          <p:cNvGrpSpPr/>
          <p:nvPr/>
        </p:nvGrpSpPr>
        <p:grpSpPr>
          <a:xfrm>
            <a:off x="4762500" y="1143000"/>
            <a:ext cx="4000500" cy="1619100"/>
            <a:chOff x="0" y="0"/>
            <a:chExt cx="4000500" cy="1619100"/>
          </a:xfrm>
        </p:grpSpPr>
        <p:grpSp>
          <p:nvGrpSpPr>
            <p:cNvPr id="196" name="Google Shape;196;p22"/>
            <p:cNvGrpSpPr/>
            <p:nvPr/>
          </p:nvGrpSpPr>
          <p:grpSpPr>
            <a:xfrm>
              <a:off x="0" y="0"/>
              <a:ext cx="4000500" cy="1619100"/>
              <a:chOff x="0" y="0"/>
              <a:chExt cx="4000500" cy="1619100"/>
            </a:xfrm>
          </p:grpSpPr>
          <p:sp>
            <p:nvSpPr>
              <p:cNvPr id="197" name="Google Shape;197;p22"/>
              <p:cNvSpPr/>
              <p:nvPr/>
            </p:nvSpPr>
            <p:spPr>
              <a:xfrm>
                <a:off x="0" y="0"/>
                <a:ext cx="4000500" cy="16191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2"/>
              <p:cNvSpPr/>
              <p:nvPr/>
            </p:nvSpPr>
            <p:spPr>
              <a:xfrm>
                <a:off x="0" y="0"/>
                <a:ext cx="4000500" cy="381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9" name="Google Shape;199;p22"/>
            <p:cNvSpPr txBox="1"/>
            <p:nvPr/>
          </p:nvSpPr>
          <p:spPr>
            <a:xfrm>
              <a:off x="190500" y="22860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Exposed MySQL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Severity: High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200"/>
                </a:spcAft>
                <a:buNone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Implication: Potential for unauthorized database access, leading to data exfiltration or manipulation.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0" name="Google Shape;200;p22"/>
          <p:cNvGrpSpPr/>
          <p:nvPr/>
        </p:nvGrpSpPr>
        <p:grpSpPr>
          <a:xfrm>
            <a:off x="381000" y="2952750"/>
            <a:ext cx="4000500" cy="1619100"/>
            <a:chOff x="0" y="0"/>
            <a:chExt cx="4000500" cy="1619100"/>
          </a:xfrm>
        </p:grpSpPr>
        <p:grpSp>
          <p:nvGrpSpPr>
            <p:cNvPr id="201" name="Google Shape;201;p22"/>
            <p:cNvGrpSpPr/>
            <p:nvPr/>
          </p:nvGrpSpPr>
          <p:grpSpPr>
            <a:xfrm>
              <a:off x="0" y="0"/>
              <a:ext cx="4000500" cy="1619100"/>
              <a:chOff x="0" y="0"/>
              <a:chExt cx="4000500" cy="1619100"/>
            </a:xfrm>
          </p:grpSpPr>
          <p:sp>
            <p:nvSpPr>
              <p:cNvPr id="202" name="Google Shape;202;p22"/>
              <p:cNvSpPr/>
              <p:nvPr/>
            </p:nvSpPr>
            <p:spPr>
              <a:xfrm>
                <a:off x="0" y="0"/>
                <a:ext cx="4000500" cy="16191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2"/>
              <p:cNvSpPr/>
              <p:nvPr/>
            </p:nvSpPr>
            <p:spPr>
              <a:xfrm>
                <a:off x="0" y="0"/>
                <a:ext cx="4000500" cy="381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4" name="Google Shape;204;p22"/>
            <p:cNvSpPr txBox="1"/>
            <p:nvPr/>
          </p:nvSpPr>
          <p:spPr>
            <a:xfrm>
              <a:off x="190500" y="22860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Permissive Host Firewall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Severity: High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200"/>
                </a:spcAft>
                <a:buNone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Implication: Significantly expanded attack surface, allowing lateral movement across internal services.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5" name="Google Shape;205;p22"/>
          <p:cNvGrpSpPr/>
          <p:nvPr/>
        </p:nvGrpSpPr>
        <p:grpSpPr>
          <a:xfrm>
            <a:off x="4762500" y="2952750"/>
            <a:ext cx="4000500" cy="1619100"/>
            <a:chOff x="0" y="0"/>
            <a:chExt cx="4000500" cy="1619100"/>
          </a:xfrm>
        </p:grpSpPr>
        <p:grpSp>
          <p:nvGrpSpPr>
            <p:cNvPr id="206" name="Google Shape;206;p22"/>
            <p:cNvGrpSpPr/>
            <p:nvPr/>
          </p:nvGrpSpPr>
          <p:grpSpPr>
            <a:xfrm>
              <a:off x="0" y="0"/>
              <a:ext cx="4000500" cy="1619100"/>
              <a:chOff x="0" y="0"/>
              <a:chExt cx="4000500" cy="1619100"/>
            </a:xfrm>
          </p:grpSpPr>
          <p:sp>
            <p:nvSpPr>
              <p:cNvPr id="207" name="Google Shape;207;p22"/>
              <p:cNvSpPr/>
              <p:nvPr/>
            </p:nvSpPr>
            <p:spPr>
              <a:xfrm>
                <a:off x="0" y="0"/>
                <a:ext cx="4000500" cy="16191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2"/>
              <p:cNvSpPr/>
              <p:nvPr/>
            </p:nvSpPr>
            <p:spPr>
              <a:xfrm>
                <a:off x="0" y="0"/>
                <a:ext cx="4000500" cy="381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9" name="Google Shape;209;p22"/>
            <p:cNvSpPr txBox="1"/>
            <p:nvPr/>
          </p:nvSpPr>
          <p:spPr>
            <a:xfrm>
              <a:off x="190500" y="228600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Plaintext HTTP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Severity: Medium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200"/>
                </a:spcAft>
                <a:buNone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Implication: Vulnerability to web eavesdropping and man-in-the-middle attacks on non-encrypted traffic.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10" name="Google Shape;210;p22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22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Vulnerability Assessment &amp; Risk Management | September 2024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Task 13: Security Hardening &amp; Before vs After Verification</a:t>
            </a:r>
            <a:endParaRPr b="1" sz="240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381000" y="1333500"/>
            <a:ext cx="47625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Hardening Implementation Controls</a:t>
            </a:r>
            <a:endParaRPr b="0" sz="180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SzPts val="1400"/>
              <a:buChar char="●"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Purged FTP/Telnet: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Eliminated plaintext exposure by removing legacy, unencrypted services.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UFW Default-Deny: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Implemented strict firewall ingress rules, permitting only SSH on Port 22.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1200"/>
              </a:spcAft>
              <a:buSzPts val="1400"/>
              <a:buChar char="●"/>
            </a:pPr>
            <a:r>
              <a:rPr b="0" lang="en-GB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MySQL Loopback Binding: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Configured database listener to localhost to prevent external network access.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9" name="Google Shape;219;p23"/>
          <p:cNvGrpSpPr/>
          <p:nvPr/>
        </p:nvGrpSpPr>
        <p:grpSpPr>
          <a:xfrm>
            <a:off x="5524500" y="1714500"/>
            <a:ext cx="3238500" cy="2095500"/>
            <a:chOff x="0" y="0"/>
            <a:chExt cx="3238500" cy="2095500"/>
          </a:xfrm>
        </p:grpSpPr>
        <p:sp>
          <p:nvSpPr>
            <p:cNvPr id="220" name="Google Shape;220;p23"/>
            <p:cNvSpPr/>
            <p:nvPr/>
          </p:nvSpPr>
          <p:spPr>
            <a:xfrm>
              <a:off x="0" y="0"/>
              <a:ext cx="3238500" cy="2095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0" y="0"/>
              <a:ext cx="3238500" cy="381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3"/>
            <p:cNvSpPr txBox="1"/>
            <p:nvPr/>
          </p:nvSpPr>
          <p:spPr>
            <a:xfrm>
              <a:off x="190500" y="285750"/>
              <a:ext cx="2857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48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80%</a:t>
              </a:r>
              <a:endParaRPr b="1" sz="48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Surface Area Reduction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1200"/>
                </a:spcAft>
                <a:buNone/>
              </a:pPr>
              <a:r>
                <a:rPr b="0" lang="en-GB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Reduction from 5 open ports to 1 hardened port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223" name="Google Shape;223;p23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3"/>
          <p:cNvSpPr txBox="1"/>
          <p:nvPr/>
        </p:nvSpPr>
        <p:spPr>
          <a:xfrm>
            <a:off x="381000" y="4857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Infrastructure Security Hardening Report | September 2024</a:t>
            </a:r>
            <a:endParaRPr b="0" sz="1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4"/>
          <p:cNvGrpSpPr/>
          <p:nvPr/>
        </p:nvGrpSpPr>
        <p:grpSpPr>
          <a:xfrm>
            <a:off x="0" y="0"/>
            <a:ext cx="9144000" cy="5048250"/>
            <a:chOff x="0" y="0"/>
            <a:chExt cx="9144000" cy="5048250"/>
          </a:xfrm>
        </p:grpSpPr>
        <p:sp>
          <p:nvSpPr>
            <p:cNvPr id="230" name="Google Shape;230;p24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4"/>
            <p:cNvSpPr txBox="1"/>
            <p:nvPr/>
          </p:nvSpPr>
          <p:spPr>
            <a:xfrm>
              <a:off x="381000" y="38100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40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Task 14: Strategic Security Recommendations &amp; Conclusion</a:t>
              </a:r>
              <a:endParaRPr b="1" sz="240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2" name="Google Shape;232;p24"/>
            <p:cNvSpPr txBox="1"/>
            <p:nvPr/>
          </p:nvSpPr>
          <p:spPr>
            <a:xfrm>
              <a:off x="381000" y="1238250"/>
              <a:ext cx="8382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Strategic Recommendations</a:t>
              </a:r>
              <a:endParaRPr b="0" sz="18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Enforce Encryption (SSH/TLS for all traffic).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Least Privilege (Default-deny firewalling).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NIDS Implementation (Deploy Snort/Suricata).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Localhost Database Binding (Bind sensitive DBs to loopback).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200"/>
                </a:spcBef>
                <a:spcAft>
                  <a:spcPts val="0"/>
                </a:spcAft>
                <a:buSzPts val="1400"/>
                <a:buAutoNum type="arabicPeriod"/>
              </a:pPr>
              <a:r>
                <a:rPr b="0" lang="en-GB" sz="14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Continuous Auditing (Regular SOC assessments).</a:t>
              </a:r>
              <a:endParaRPr b="0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Conclusion</a:t>
              </a:r>
              <a:endParaRPr b="0" sz="140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1200"/>
                </a:spcAft>
                <a:buNone/>
              </a:pPr>
              <a:r>
                <a:rPr b="0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Deep packet forensics is the essential baseline for effective SOC defense and threat hunting.</a:t>
              </a:r>
              <a:endParaRPr b="0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233" name="Google Shape;233;p24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4" name="Google Shape;234;p24"/>
            <p:cNvSpPr txBox="1"/>
            <p:nvPr/>
          </p:nvSpPr>
          <p:spPr>
            <a:xfrm>
              <a:off x="381000" y="4857750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Strategic Security Analysis &amp; Recommendations | SOC Defense Framework</a:t>
              </a:r>
              <a:endParaRPr b="0"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